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693" r:id="rId3"/>
    <p:sldId id="543" r:id="rId4"/>
    <p:sldId id="695" r:id="rId5"/>
    <p:sldId id="712" r:id="rId6"/>
    <p:sldId id="714" r:id="rId7"/>
    <p:sldId id="715" r:id="rId8"/>
    <p:sldId id="716" r:id="rId9"/>
    <p:sldId id="717" r:id="rId10"/>
    <p:sldId id="713" r:id="rId11"/>
    <p:sldId id="694" r:id="rId12"/>
    <p:sldId id="719" r:id="rId13"/>
    <p:sldId id="718" r:id="rId14"/>
    <p:sldId id="720" r:id="rId15"/>
    <p:sldId id="724" r:id="rId16"/>
    <p:sldId id="721" r:id="rId17"/>
    <p:sldId id="726" r:id="rId1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togensis, Oscar" initials="OH" lastIdx="2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35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08" y="232"/>
      </p:cViewPr>
      <p:guideLst>
        <p:guide orient="horz" pos="197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30BC-BB2B-5B0E-0AA5-A1AF562F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3B5B7-2F7D-2362-A35B-8CE92A020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771E4-45AC-E874-431B-61CF22F2C15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737209" y="5129530"/>
            <a:ext cx="331449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en-US" sz="1600" dirty="0">
                <a:solidFill>
                  <a:srgbClr val="3366CC"/>
                </a:solidFill>
                <a:latin typeface="FreeSans" panose="020B0504020202020204" charset="0"/>
                <a:cs typeface="FreeSans" panose="020B0504020202020204" charset="0"/>
                <a:sym typeface="+mn-ea"/>
              </a:rPr>
              <a:t>Sara Acevedo Godoy. </a:t>
            </a:r>
            <a:r>
              <a:rPr lang="en-US" altLang="en-US" sz="1600" dirty="0" err="1">
                <a:solidFill>
                  <a:srgbClr val="3366CC"/>
                </a:solidFill>
                <a:latin typeface="FreeSans" panose="020B0504020202020204" charset="0"/>
                <a:cs typeface="FreeSans" panose="020B0504020202020204" charset="0"/>
                <a:sym typeface="+mn-ea"/>
              </a:rPr>
              <a:t>seaceved@uc.cl</a:t>
            </a:r>
            <a:endParaRPr lang="en-US" altLang="en-US" sz="1600" dirty="0">
              <a:solidFill>
                <a:srgbClr val="3366CC"/>
              </a:solidFill>
              <a:latin typeface="FreeSans" panose="020B0504020202020204" charset="0"/>
              <a:cs typeface="FreeSans" panose="020B0504020202020204" charset="0"/>
              <a:sym typeface="+mn-ea"/>
            </a:endParaRPr>
          </a:p>
          <a:p>
            <a:pPr algn="ctr"/>
            <a:endParaRPr lang="en-US" altLang="en-US" sz="1600" dirty="0">
              <a:solidFill>
                <a:srgbClr val="3366CC"/>
              </a:solidFill>
              <a:latin typeface="FreeSans" panose="020B0504020202020204" charset="0"/>
              <a:cs typeface="FreeSans" panose="020B0504020202020204" charset="0"/>
              <a:sym typeface="+mn-ea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8" name="Picture 7" descr="logouc"/>
            <p:cNvPicPr>
              <a:picLocks noChangeAspect="1"/>
            </p:cNvPicPr>
            <p:nvPr/>
          </p:nvPicPr>
          <p:blipFill>
            <a:blip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ítulo 1"/>
          <p:cNvSpPr>
            <a:spLocks noGrp="1"/>
          </p:cNvSpPr>
          <p:nvPr/>
        </p:nvSpPr>
        <p:spPr>
          <a:xfrm>
            <a:off x="1346835" y="899160"/>
            <a:ext cx="10095865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ctr"/>
            <a:r>
              <a:rPr lang="es-419" altLang="en-US" sz="4000" dirty="0">
                <a:solidFill>
                  <a:srgbClr val="3366CC"/>
                </a:solidFill>
              </a:rPr>
              <a:t>Potencial Hídrico y Suelos</a:t>
            </a:r>
            <a:endParaRPr lang="en-US" altLang="en-US" sz="4000" dirty="0">
              <a:solidFill>
                <a:srgbClr val="3366CC"/>
              </a:solidFill>
            </a:endParaRPr>
          </a:p>
        </p:txBody>
      </p:sp>
      <p:sp>
        <p:nvSpPr>
          <p:cNvPr id="3" name="Título 1"/>
          <p:cNvSpPr>
            <a:spLocks noGrp="1"/>
          </p:cNvSpPr>
          <p:nvPr/>
        </p:nvSpPr>
        <p:spPr>
          <a:xfrm>
            <a:off x="2954020" y="78105"/>
            <a:ext cx="903478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>
                <a:solidFill>
                  <a:schemeClr val="bg1"/>
                </a:solidFill>
              </a:rPr>
              <a:t>AGR3016 - Biomet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/>
          <a:srcRect l="21908" t="267" r="18717" b="-267"/>
          <a:stretch>
            <a:fillRect/>
          </a:stretch>
        </p:blipFill>
        <p:spPr>
          <a:xfrm>
            <a:off x="4848860" y="2000885"/>
            <a:ext cx="3091815" cy="2929255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/>
            <p:cNvPicPr>
              <a:picLocks noChangeAspect="1"/>
            </p:cNvPicPr>
            <p:nvPr/>
          </p:nvPicPr>
          <p:blipFill>
            <a:blip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/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" altLang="en-US" sz="28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44500" y="1098550"/>
            <a:ext cx="6438900" cy="3364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Definiciones</a:t>
            </a: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Caso Saturado y No Saturado</a:t>
            </a:r>
            <a:endParaRPr lang="en-US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Funciones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hidráulicas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del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suelo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Conductividad hidráulica</a:t>
            </a:r>
            <a:endParaRPr lang="en-US" alt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Potencial mátrico y contenido de humedad</a:t>
            </a:r>
            <a:endParaRPr 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Ejercicios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Análisis de datos de curva de retención de humedad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/>
          <a:srcRect l="21908" t="267" r="18717" b="-267"/>
          <a:stretch>
            <a:fillRect/>
          </a:stretch>
        </p:blipFill>
        <p:spPr>
          <a:xfrm>
            <a:off x="7762875" y="1964055"/>
            <a:ext cx="3091815" cy="2929255"/>
          </a:xfrm>
          <a:prstGeom prst="ellipse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/>
            <p:cNvPicPr>
              <a:picLocks noChangeAspect="1"/>
            </p:cNvPicPr>
            <p:nvPr/>
          </p:nvPicPr>
          <p:blipFill>
            <a:blip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/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4" name="Picture 3" descr="Captura desde 2026-03-08 18-53-4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58230" y="1310640"/>
            <a:ext cx="5400675" cy="47815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8615" y="1287194"/>
            <a:ext cx="626300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" altLang="en-US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Definición simple y práctica: Energía requerida para mover moléculas de agua libre hace un punto de interés</a:t>
            </a:r>
            <a:endParaRPr lang="" altLang="en-US" b="1" i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73085" y="1778000"/>
            <a:ext cx="1078230" cy="2965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73720" y="4513580"/>
            <a:ext cx="1077595" cy="415925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73085" y="4743450"/>
            <a:ext cx="1077595" cy="1271270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48615" y="2064385"/>
            <a:ext cx="5033010" cy="2118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Concepto asociado a suelo y hojas</a:t>
            </a:r>
          </a:p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Asociado al trabajo requerido para extraer agua del suelo</a:t>
            </a:r>
          </a:p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</a:t>
            </a:r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fine el flujo de agua a través del continuo suelo – planta – atmósfera </a:t>
            </a:r>
            <a:endParaRPr lang="en-US" altLang="en-US" b="1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/>
            <p:cNvPicPr>
              <a:picLocks noChangeAspect="1"/>
            </p:cNvPicPr>
            <p:nvPr/>
          </p:nvPicPr>
          <p:blipFill>
            <a:blip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/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1028" name="Picture 4" descr="figure 1">
            <a:extLst>
              <a:ext uri="{FF2B5EF4-FFF2-40B4-BE49-F238E27FC236}">
                <a16:creationId xmlns:a16="http://schemas.microsoft.com/office/drawing/2014/main" id="{797CFD8E-74BD-CF69-C6B1-772990FC8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140" y="1301054"/>
            <a:ext cx="3702457" cy="393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aptura desde 2026-03-08 18-53-44">
            <a:extLst>
              <a:ext uri="{FF2B5EF4-FFF2-40B4-BE49-F238E27FC236}">
                <a16:creationId xmlns:a16="http://schemas.microsoft.com/office/drawing/2014/main" id="{50A51FAC-EF35-335F-252B-0476B22412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5250" y="1049081"/>
            <a:ext cx="5400675" cy="47815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77A339F-86F9-9D01-6253-04B1F6ED2201}"/>
              </a:ext>
            </a:extLst>
          </p:cNvPr>
          <p:cNvSpPr/>
          <p:nvPr/>
        </p:nvSpPr>
        <p:spPr>
          <a:xfrm>
            <a:off x="2440105" y="1516441"/>
            <a:ext cx="1078230" cy="2965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25EA02-E95B-58EF-8894-191A9FA91279}"/>
              </a:ext>
            </a:extLst>
          </p:cNvPr>
          <p:cNvSpPr/>
          <p:nvPr/>
        </p:nvSpPr>
        <p:spPr>
          <a:xfrm>
            <a:off x="2440105" y="4481891"/>
            <a:ext cx="1077595" cy="1271270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09A078-5DC9-56DA-A9C7-08B2C42C013A}"/>
              </a:ext>
            </a:extLst>
          </p:cNvPr>
          <p:cNvSpPr txBox="1"/>
          <p:nvPr/>
        </p:nvSpPr>
        <p:spPr>
          <a:xfrm>
            <a:off x="7236140" y="5476162"/>
            <a:ext cx="40554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Ali, M. H. (2010). Fundamentals of Irrigation and On-farm Water Management: Volume 1. Springer New York. https://</a:t>
            </a:r>
            <a:r>
              <a:rPr lang="en-US" sz="1000" dirty="0" err="1"/>
              <a:t>doi.org</a:t>
            </a:r>
            <a:r>
              <a:rPr lang="en-US" sz="1000" dirty="0"/>
              <a:t>/10.1007/978-1-4419-6335-2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BF07-755E-11C1-14A0-2AA6A8A9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6CA2889-53B5-4061-1A3D-543F04E39135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65113CAB-2F2D-2958-A459-CD620BBF2A0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7F2B39-ECF2-BFFC-35D6-5EEC92B36C84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D1DCA7B-212C-DFC2-2F4E-E98F340F3B16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4F9BF3-CE10-F8D4-004A-BB9328E73B2B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9733A-3A6A-EF84-FA41-1E3F646542E3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922A899E-2F02-F823-FB3F-CC6DAF11DB6A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1028" name="Picture 4" descr="figure 1">
            <a:extLst>
              <a:ext uri="{FF2B5EF4-FFF2-40B4-BE49-F238E27FC236}">
                <a16:creationId xmlns:a16="http://schemas.microsoft.com/office/drawing/2014/main" id="{ABE2BEC1-291D-D819-9E2B-92140C066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140" y="1301054"/>
            <a:ext cx="3702457" cy="393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9287879-132E-78AA-E92C-46C0AD79A983}"/>
              </a:ext>
            </a:extLst>
          </p:cNvPr>
          <p:cNvSpPr txBox="1"/>
          <p:nvPr/>
        </p:nvSpPr>
        <p:spPr>
          <a:xfrm>
            <a:off x="7236140" y="5476162"/>
            <a:ext cx="40554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Ali, M. H. (2010). Fundamentals of Irrigation and On-farm Water Management: Volume 1. Springer New York. https://</a:t>
            </a:r>
            <a:r>
              <a:rPr lang="en-US" sz="1000" dirty="0" err="1"/>
              <a:t>doi.org</a:t>
            </a:r>
            <a:r>
              <a:rPr lang="en-US" sz="1000" dirty="0"/>
              <a:t>/10.1007/978-1-4419-6335-2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CE2A8FCC-F011-AFA0-F8ED-C33538CB631A}"/>
              </a:ext>
            </a:extLst>
          </p:cNvPr>
          <p:cNvSpPr txBox="1"/>
          <p:nvPr/>
        </p:nvSpPr>
        <p:spPr>
          <a:xfrm>
            <a:off x="348614" y="1418705"/>
            <a:ext cx="6463151" cy="4195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 agua </a:t>
            </a:r>
            <a:r>
              <a:rPr lang="en-US" altLang="en-US" b="1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siempre</a:t>
            </a: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 mueve de mayor potencial a menor potencial.  </a:t>
            </a:r>
          </a:p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No necesariamente el agua se mueve en dirección de mayor contenido de humedad a menor</a:t>
            </a:r>
          </a:p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Lidiamos con </a:t>
            </a:r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valores negativos</a:t>
            </a: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, asi que valores negativos bajos o cercanos a cero en realidad son valores de potencial alto</a:t>
            </a:r>
          </a:p>
          <a:p>
            <a:pPr marL="400050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El suelo tiende a tener un potencial hídrico mayor a la planta y la atmósfera </a:t>
            </a:r>
            <a:endParaRPr lang="en-US" alt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245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A7D8-F9A0-2E33-22BC-5E542DBC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9F928D4-AFD3-E816-A165-32BCF8470B3F}"/>
              </a:ext>
            </a:extLst>
          </p:cNvPr>
          <p:cNvGrpSpPr/>
          <p:nvPr/>
        </p:nvGrpSpPr>
        <p:grpSpPr>
          <a:xfrm>
            <a:off x="-635" y="-13970"/>
            <a:ext cx="12181205" cy="6771005"/>
            <a:chOff x="-1" y="-22"/>
            <a:chExt cx="19183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129AA4F7-22D5-9885-75DC-A3DE660F4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82FCDA-7A66-39C0-DE91-69A68121F5EF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FBF6E6-DC32-EBE8-356F-A61F482096F6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C582A3-B7BA-BF0F-6BEA-84F70C361037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F0B597-B2EF-4A6A-ED6C-D71DA8889A65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2B8DA1BC-777D-4654-7A79-B0F17D95F353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 Hídrico </a:t>
            </a:r>
            <a:r>
              <a:rPr lang="en-US" altLang="en-US" sz="280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>
                <a:solidFill>
                  <a:schemeClr val="bg1"/>
                </a:solidFill>
              </a:rPr>
              <a:t>  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E07376A6-28D5-C9B2-0D40-B83ACB813A2D}"/>
              </a:ext>
            </a:extLst>
          </p:cNvPr>
          <p:cNvSpPr txBox="1"/>
          <p:nvPr/>
        </p:nvSpPr>
        <p:spPr>
          <a:xfrm>
            <a:off x="348614" y="1418705"/>
            <a:ext cx="11004330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Potencial total es una suma de componentes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Ψ total = Ψ gravitacional + Ψ mátrico + Ψ ósmotico + Ψ hidroestático</a:t>
            </a: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D59B2F-B635-3BB7-9FEE-ADC6094088E2}"/>
              </a:ext>
            </a:extLst>
          </p:cNvPr>
          <p:cNvSpPr txBox="1"/>
          <p:nvPr/>
        </p:nvSpPr>
        <p:spPr>
          <a:xfrm>
            <a:off x="842479" y="3918649"/>
            <a:ext cx="66884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Ψ mátrico </a:t>
            </a:r>
          </a:p>
          <a:p>
            <a:endParaRPr lang="en-US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/>
              <a:t>Determinada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fuerza</a:t>
            </a:r>
            <a:r>
              <a:rPr lang="en-US" dirty="0"/>
              <a:t> de </a:t>
            </a:r>
            <a:r>
              <a:rPr lang="en-US" dirty="0" err="1"/>
              <a:t>atracción</a:t>
            </a:r>
            <a:r>
              <a:rPr lang="en-US" dirty="0"/>
              <a:t> </a:t>
            </a:r>
            <a:r>
              <a:rPr lang="en-US" dirty="0" err="1"/>
              <a:t>agua-suelo</a:t>
            </a:r>
            <a:r>
              <a:rPr lang="en-US" dirty="0"/>
              <a:t>.</a:t>
            </a:r>
          </a:p>
          <a:p>
            <a:r>
              <a:rPr lang="en-US" dirty="0"/>
              <a:t>Es la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no </a:t>
            </a:r>
            <a:r>
              <a:rPr lang="en-US" dirty="0" err="1"/>
              <a:t>saturado</a:t>
            </a:r>
            <a:r>
              <a:rPr lang="en-US" dirty="0"/>
              <a:t> (</a:t>
            </a:r>
            <a:r>
              <a:rPr lang="en-US" dirty="0" err="1"/>
              <a:t>suelos</a:t>
            </a:r>
            <a:r>
              <a:rPr lang="en-US" dirty="0"/>
              <a:t> </a:t>
            </a:r>
            <a:r>
              <a:rPr lang="en-US" dirty="0" err="1"/>
              <a:t>secos</a:t>
            </a:r>
            <a:r>
              <a:rPr lang="en-US" dirty="0"/>
              <a:t>).</a:t>
            </a:r>
          </a:p>
          <a:p>
            <a:r>
              <a:rPr lang="en-US" dirty="0" err="1"/>
              <a:t>Potencial</a:t>
            </a:r>
            <a:r>
              <a:rPr lang="en-US" dirty="0"/>
              <a:t> </a:t>
            </a:r>
            <a:r>
              <a:rPr lang="en-US" dirty="0" err="1"/>
              <a:t>mátrico</a:t>
            </a:r>
            <a:r>
              <a:rPr lang="en-US" dirty="0"/>
              <a:t> es cero en </a:t>
            </a:r>
            <a:r>
              <a:rPr lang="en-US" dirty="0" err="1"/>
              <a:t>condiciones</a:t>
            </a:r>
            <a:r>
              <a:rPr lang="en-US" dirty="0"/>
              <a:t> </a:t>
            </a:r>
            <a:r>
              <a:rPr lang="en-US" dirty="0" err="1"/>
              <a:t>saturadas</a:t>
            </a:r>
            <a:endParaRPr lang="en-US" dirty="0"/>
          </a:p>
          <a:p>
            <a:r>
              <a:rPr lang="en-US" dirty="0" err="1"/>
              <a:t>Saturado</a:t>
            </a:r>
            <a:r>
              <a:rPr lang="en-US" dirty="0"/>
              <a:t> → </a:t>
            </a:r>
            <a:r>
              <a:rPr lang="en-US" dirty="0" err="1"/>
              <a:t>Ψ</a:t>
            </a:r>
            <a:r>
              <a:rPr lang="en-US" dirty="0"/>
              <a:t>ₘ = 0, No </a:t>
            </a:r>
            <a:r>
              <a:rPr lang="en-US" dirty="0" err="1"/>
              <a:t>saturado</a:t>
            </a:r>
            <a:r>
              <a:rPr lang="en-US" dirty="0"/>
              <a:t> → </a:t>
            </a:r>
            <a:r>
              <a:rPr lang="en-US" dirty="0" err="1"/>
              <a:t>Ψ</a:t>
            </a:r>
            <a:r>
              <a:rPr lang="en-US" dirty="0"/>
              <a:t>ₘ &lt; 0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2714201F-7FE9-6C4C-0D7A-8AD127435490}"/>
              </a:ext>
            </a:extLst>
          </p:cNvPr>
          <p:cNvSpPr txBox="1"/>
          <p:nvPr/>
        </p:nvSpPr>
        <p:spPr>
          <a:xfrm>
            <a:off x="842479" y="2507094"/>
            <a:ext cx="7253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Ψ gravitacional</a:t>
            </a:r>
          </a:p>
          <a:p>
            <a:endParaRPr lang="en-US" dirty="0"/>
          </a:p>
          <a:p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altura</a:t>
            </a:r>
            <a:r>
              <a:rPr lang="en-US" dirty="0"/>
              <a:t> con </a:t>
            </a:r>
            <a:r>
              <a:rPr lang="en-US" dirty="0" err="1"/>
              <a:t>respecto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</a:t>
            </a:r>
          </a:p>
          <a:p>
            <a:r>
              <a:rPr lang="en-US" dirty="0" err="1"/>
              <a:t>Dentro</a:t>
            </a:r>
            <a:r>
              <a:rPr lang="en-US" dirty="0"/>
              <a:t> del </a:t>
            </a:r>
            <a:r>
              <a:rPr lang="en-US" dirty="0" err="1"/>
              <a:t>perfil</a:t>
            </a:r>
            <a:r>
              <a:rPr lang="en-US" dirty="0"/>
              <a:t> de </a:t>
            </a:r>
            <a:r>
              <a:rPr lang="en-US" dirty="0" err="1"/>
              <a:t>suelo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superficie</a:t>
            </a:r>
            <a:r>
              <a:rPr lang="en-US" dirty="0"/>
              <a:t> es z = 0 → </a:t>
            </a:r>
            <a:r>
              <a:rPr lang="en-US" dirty="0" err="1"/>
              <a:t>Ψg</a:t>
            </a:r>
            <a:r>
              <a:rPr lang="en-US" dirty="0"/>
              <a:t> </a:t>
            </a:r>
            <a:r>
              <a:rPr lang="en-US" dirty="0" err="1"/>
              <a:t>negativo</a:t>
            </a: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5775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681F-A0BF-B5BA-BAA4-08BCC65D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D8FE998-08E4-97BD-341D-2894DD4D165B}"/>
              </a:ext>
            </a:extLst>
          </p:cNvPr>
          <p:cNvGrpSpPr/>
          <p:nvPr/>
        </p:nvGrpSpPr>
        <p:grpSpPr>
          <a:xfrm>
            <a:off x="-635" y="-13970"/>
            <a:ext cx="12181205" cy="6771005"/>
            <a:chOff x="-1" y="-22"/>
            <a:chExt cx="19183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5632F7CE-5D3F-9479-C57E-1B6DA6D77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983FE2-C9A8-A2BF-48D5-BFD67A799F5F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020E29-61DC-312F-540A-1EB09A0B3A41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723604-89EA-718E-F34F-15C75EBF2F09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73D4E9-03BB-9A0A-0691-DE8899A2B185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ED57212E-3F12-622C-DE5F-6BDB13EEE19C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 Hídrico </a:t>
            </a:r>
            <a:r>
              <a:rPr lang="en-US" altLang="en-US" sz="280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>
                <a:solidFill>
                  <a:schemeClr val="bg1"/>
                </a:solidFill>
              </a:rPr>
              <a:t>  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10972E29-0ABA-A5A9-3C50-369E19C8368F}"/>
              </a:ext>
            </a:extLst>
          </p:cNvPr>
          <p:cNvSpPr txBox="1"/>
          <p:nvPr/>
        </p:nvSpPr>
        <p:spPr>
          <a:xfrm>
            <a:off x="348614" y="1418705"/>
            <a:ext cx="11004330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Potencial total es una suma de componentes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Ψ total = Ψ gravitacional + Ψ mátrico + Ψ ósmotico + Ψ hidroestático</a:t>
            </a: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9A21A-A016-DFD4-9C89-1E5E4494D1D3}"/>
              </a:ext>
            </a:extLst>
          </p:cNvPr>
          <p:cNvSpPr txBox="1"/>
          <p:nvPr/>
        </p:nvSpPr>
        <p:spPr>
          <a:xfrm>
            <a:off x="842479" y="4425512"/>
            <a:ext cx="110858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Ψ hidroestático</a:t>
            </a:r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presión</a:t>
            </a:r>
            <a:r>
              <a:rPr lang="en-US" dirty="0"/>
              <a:t> </a:t>
            </a:r>
            <a:r>
              <a:rPr lang="en-US" dirty="0" err="1"/>
              <a:t>ejercida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columna de </a:t>
            </a:r>
            <a:r>
              <a:rPr lang="en-US" dirty="0" err="1"/>
              <a:t>agua</a:t>
            </a:r>
            <a:r>
              <a:rPr lang="en-US" dirty="0"/>
              <a:t> </a:t>
            </a:r>
            <a:r>
              <a:rPr lang="en-US" dirty="0" err="1"/>
              <a:t>debido</a:t>
            </a:r>
            <a:r>
              <a:rPr lang="en-US" dirty="0"/>
              <a:t> a la </a:t>
            </a:r>
            <a:r>
              <a:rPr lang="en-US" dirty="0" err="1"/>
              <a:t>gravedad</a:t>
            </a:r>
            <a:r>
              <a:rPr lang="en-US" dirty="0"/>
              <a:t>.</a:t>
            </a:r>
          </a:p>
          <a:p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principalmente</a:t>
            </a:r>
            <a:r>
              <a:rPr lang="en-US" dirty="0"/>
              <a:t> en </a:t>
            </a:r>
            <a:r>
              <a:rPr lang="en-US" dirty="0" err="1"/>
              <a:t>suelos</a:t>
            </a:r>
            <a:r>
              <a:rPr lang="en-US" dirty="0"/>
              <a:t> </a:t>
            </a:r>
            <a:r>
              <a:rPr lang="en-US" dirty="0" err="1"/>
              <a:t>saturados</a:t>
            </a:r>
            <a:r>
              <a:rPr lang="en-US" dirty="0"/>
              <a:t> o </a:t>
            </a:r>
            <a:r>
              <a:rPr lang="en-US" dirty="0" err="1"/>
              <a:t>suelos</a:t>
            </a:r>
            <a:r>
              <a:rPr lang="en-US" dirty="0"/>
              <a:t> </a:t>
            </a:r>
            <a:r>
              <a:rPr lang="en-US" dirty="0" err="1"/>
              <a:t>inundados</a:t>
            </a:r>
            <a:r>
              <a:rPr lang="en-US" dirty="0"/>
              <a:t> (bajo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freático</a:t>
            </a:r>
            <a:r>
              <a:rPr lang="en-US" dirty="0"/>
              <a:t>).</a:t>
            </a:r>
          </a:p>
          <a:p>
            <a:r>
              <a:rPr lang="en-US" dirty="0"/>
              <a:t>Bajo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freático</a:t>
            </a:r>
            <a:r>
              <a:rPr lang="en-US" dirty="0"/>
              <a:t> → </a:t>
            </a:r>
            <a:r>
              <a:rPr lang="el-GR" dirty="0"/>
              <a:t>Ψ</a:t>
            </a:r>
            <a:r>
              <a:rPr lang="en-US" dirty="0"/>
              <a:t>h </a:t>
            </a:r>
            <a:r>
              <a:rPr lang="en-US" dirty="0" err="1"/>
              <a:t>positivo</a:t>
            </a:r>
            <a:r>
              <a:rPr lang="en-US" dirty="0"/>
              <a:t>, Nivel </a:t>
            </a:r>
            <a:r>
              <a:rPr lang="en-US" dirty="0" err="1"/>
              <a:t>atmosférico</a:t>
            </a:r>
            <a:r>
              <a:rPr lang="en-US" dirty="0"/>
              <a:t> (</a:t>
            </a:r>
            <a:r>
              <a:rPr lang="en-US" dirty="0" err="1"/>
              <a:t>suelo</a:t>
            </a:r>
            <a:r>
              <a:rPr lang="en-US" dirty="0"/>
              <a:t> </a:t>
            </a:r>
            <a:r>
              <a:rPr lang="en-US" dirty="0" err="1"/>
              <a:t>saturado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al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freático</a:t>
            </a:r>
            <a:r>
              <a:rPr lang="en-US" dirty="0"/>
              <a:t>) → </a:t>
            </a:r>
            <a:r>
              <a:rPr lang="el-GR" dirty="0"/>
              <a:t>Ψ</a:t>
            </a:r>
            <a:r>
              <a:rPr lang="en-US" dirty="0"/>
              <a:t>h = 0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99649EA6-DFB5-A4FD-8123-25E878277EA1}"/>
              </a:ext>
            </a:extLst>
          </p:cNvPr>
          <p:cNvSpPr txBox="1"/>
          <p:nvPr/>
        </p:nvSpPr>
        <p:spPr>
          <a:xfrm>
            <a:off x="842479" y="2507094"/>
            <a:ext cx="10830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Ψ osmótico</a:t>
            </a:r>
          </a:p>
          <a:p>
            <a:endParaRPr lang="en-US" dirty="0"/>
          </a:p>
          <a:p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concentración</a:t>
            </a:r>
            <a:r>
              <a:rPr lang="en-US" dirty="0"/>
              <a:t> de </a:t>
            </a:r>
            <a:r>
              <a:rPr lang="en-US" dirty="0" err="1"/>
              <a:t>solutos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agua</a:t>
            </a:r>
            <a:r>
              <a:rPr lang="en-US" dirty="0"/>
              <a:t> del </a:t>
            </a:r>
            <a:r>
              <a:rPr lang="en-US" dirty="0" err="1"/>
              <a:t>suelo</a:t>
            </a:r>
            <a:r>
              <a:rPr lang="en-US" dirty="0"/>
              <a:t>.</a:t>
            </a:r>
          </a:p>
          <a:p>
            <a:r>
              <a:rPr lang="en-US" dirty="0"/>
              <a:t>Es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negativo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hay mayor </a:t>
            </a:r>
            <a:r>
              <a:rPr lang="en-US" dirty="0" err="1"/>
              <a:t>concentración</a:t>
            </a:r>
            <a:r>
              <a:rPr lang="en-US" dirty="0"/>
              <a:t> de </a:t>
            </a:r>
            <a:r>
              <a:rPr lang="en-US" dirty="0" err="1"/>
              <a:t>solutos</a:t>
            </a:r>
            <a:r>
              <a:rPr lang="en-US" dirty="0"/>
              <a:t>.</a:t>
            </a:r>
          </a:p>
          <a:p>
            <a:r>
              <a:rPr lang="en-US" dirty="0"/>
              <a:t>Es clave en la </a:t>
            </a:r>
            <a:r>
              <a:rPr lang="en-US" dirty="0" err="1"/>
              <a:t>interacción</a:t>
            </a:r>
            <a:r>
              <a:rPr lang="en-US" dirty="0"/>
              <a:t> </a:t>
            </a:r>
            <a:r>
              <a:rPr lang="en-US" dirty="0" err="1"/>
              <a:t>agua-raíz</a:t>
            </a:r>
            <a:r>
              <a:rPr lang="en-US" dirty="0"/>
              <a:t> y en </a:t>
            </a:r>
            <a:r>
              <a:rPr lang="en-US" dirty="0" err="1"/>
              <a:t>suelos</a:t>
            </a:r>
            <a:r>
              <a:rPr lang="en-US" dirty="0"/>
              <a:t> </a:t>
            </a:r>
            <a:r>
              <a:rPr lang="en-US" dirty="0" err="1"/>
              <a:t>afectados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sales</a:t>
            </a:r>
          </a:p>
          <a:p>
            <a:r>
              <a:rPr lang="en-US" dirty="0"/>
              <a:t>Sin </a:t>
            </a:r>
            <a:r>
              <a:rPr lang="en-US" dirty="0" err="1"/>
              <a:t>solutos</a:t>
            </a:r>
            <a:r>
              <a:rPr lang="en-US" dirty="0"/>
              <a:t> (</a:t>
            </a:r>
            <a:r>
              <a:rPr lang="en-US" dirty="0" err="1"/>
              <a:t>agua</a:t>
            </a:r>
            <a:r>
              <a:rPr lang="en-US" dirty="0"/>
              <a:t> pura) → </a:t>
            </a:r>
            <a:r>
              <a:rPr lang="el-GR" dirty="0"/>
              <a:t>Ψ</a:t>
            </a:r>
            <a:r>
              <a:rPr lang="en-US" dirty="0"/>
              <a:t>o = 0, con </a:t>
            </a:r>
            <a:r>
              <a:rPr lang="en-US" dirty="0" err="1"/>
              <a:t>solutos</a:t>
            </a:r>
            <a:r>
              <a:rPr lang="en-US" dirty="0"/>
              <a:t> → </a:t>
            </a:r>
            <a:r>
              <a:rPr lang="el-GR" dirty="0"/>
              <a:t>Ψ</a:t>
            </a:r>
            <a:r>
              <a:rPr lang="en-US" dirty="0"/>
              <a:t>o &lt; 0 (</a:t>
            </a:r>
            <a:r>
              <a:rPr lang="en-US" dirty="0" err="1"/>
              <a:t>negativo</a:t>
            </a:r>
            <a:r>
              <a:rPr lang="en-US" dirty="0"/>
              <a:t>)</a:t>
            </a: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739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F894-4395-87BC-58D6-BCE18030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0A9229F-2A37-DDE7-3012-C4842CF69C0A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D0257110-3834-2682-28F1-FEA65A7C2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9BD2EF-0983-A677-FFC6-AB09D2CA8D45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BC8C0D-66EA-62EE-F012-079A4DA29E57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E5D66A1-EEE4-4291-6B21-83D1EB4A2401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A8414FF-7A33-AD79-7494-2D4FDE05DC11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F1D1F68C-E616-07EE-B7CB-5416EAE8F112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02FA18F6-B2DD-8235-A1A2-5FC42331603B}"/>
              </a:ext>
            </a:extLst>
          </p:cNvPr>
          <p:cNvSpPr txBox="1"/>
          <p:nvPr/>
        </p:nvSpPr>
        <p:spPr>
          <a:xfrm>
            <a:off x="348615" y="1010757"/>
            <a:ext cx="11004330" cy="1702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Escenario bajo en nivel freático y sin influencia de solutos: 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Ψ total = Ψ gravitacional + </a:t>
            </a:r>
            <a:r>
              <a:rPr lang="en-US" altLang="en-US" strike="sngStrike" noProof="1">
                <a:latin typeface="Arial" panose="020B0604020202020204" pitchFamily="34" charset="0"/>
                <a:cs typeface="Arial" panose="020B0604020202020204" pitchFamily="34" charset="0"/>
              </a:rPr>
              <a:t>Ψ mátrico + Ψ ósmotico </a:t>
            </a: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+ Ψ hidroestático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H = h + z, con </a:t>
            </a:r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h positivo</a:t>
            </a: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BF419-0347-8467-77E0-220F7CF7C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2281145"/>
            <a:ext cx="6751634" cy="3726263"/>
          </a:xfrm>
          <a:prstGeom prst="rect">
            <a:avLst/>
          </a:prstGeom>
        </p:spPr>
      </p:pic>
      <p:sp>
        <p:nvSpPr>
          <p:cNvPr id="6" name="Text Box 10">
            <a:extLst>
              <a:ext uri="{FF2B5EF4-FFF2-40B4-BE49-F238E27FC236}">
                <a16:creationId xmlns:a16="http://schemas.microsoft.com/office/drawing/2014/main" id="{70DD9EE1-E027-0FD7-2FEC-0AB05AB558B2}"/>
              </a:ext>
            </a:extLst>
          </p:cNvPr>
          <p:cNvSpPr txBox="1"/>
          <p:nvPr/>
        </p:nvSpPr>
        <p:spPr>
          <a:xfrm>
            <a:off x="7236142" y="2652366"/>
            <a:ext cx="7253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Piezómetro mide H </a:t>
            </a:r>
          </a:p>
          <a:p>
            <a:endParaRPr lang="en-US" dirty="0"/>
          </a:p>
          <a:p>
            <a:r>
              <a:rPr lang="en-US" dirty="0" err="1"/>
              <a:t>Piezómetro</a:t>
            </a:r>
            <a:r>
              <a:rPr lang="en-US" dirty="0"/>
              <a:t> 1 a z = -100 cm, </a:t>
            </a:r>
            <a:r>
              <a:rPr lang="en-US" dirty="0" err="1"/>
              <a:t>mide</a:t>
            </a:r>
            <a:r>
              <a:rPr lang="en-US" dirty="0"/>
              <a:t> H = -80cm</a:t>
            </a:r>
          </a:p>
          <a:p>
            <a:r>
              <a:rPr lang="en-US" dirty="0" err="1"/>
              <a:t>Piezómetro</a:t>
            </a:r>
            <a:r>
              <a:rPr lang="en-US" dirty="0"/>
              <a:t> 2 a z = -200 cm, </a:t>
            </a:r>
            <a:r>
              <a:rPr lang="en-US" dirty="0" err="1"/>
              <a:t>mide</a:t>
            </a:r>
            <a:r>
              <a:rPr lang="en-US" dirty="0"/>
              <a:t> H = -90cm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 en 1 = -80cm, h = +20cm </a:t>
            </a:r>
          </a:p>
          <a:p>
            <a:r>
              <a:rPr lang="en-US" dirty="0"/>
              <a:t>H en 1 = -90cm, h = +110cm</a:t>
            </a:r>
          </a:p>
          <a:p>
            <a:endParaRPr lang="en-US" dirty="0"/>
          </a:p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Flujo de H mayor a H menor</a:t>
            </a:r>
          </a:p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h no define el flujo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F88C4-A974-14BA-6972-4ACBD6317669}"/>
              </a:ext>
            </a:extLst>
          </p:cNvPr>
          <p:cNvSpPr/>
          <p:nvPr/>
        </p:nvSpPr>
        <p:spPr>
          <a:xfrm>
            <a:off x="719190" y="3692806"/>
            <a:ext cx="287677" cy="291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2190F-0411-1E47-43E4-FF90492BE3FE}"/>
              </a:ext>
            </a:extLst>
          </p:cNvPr>
          <p:cNvSpPr/>
          <p:nvPr/>
        </p:nvSpPr>
        <p:spPr>
          <a:xfrm>
            <a:off x="1384631" y="4853247"/>
            <a:ext cx="287677" cy="291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9ED40B-1D71-797E-34CD-63215C7704F8}"/>
              </a:ext>
            </a:extLst>
          </p:cNvPr>
          <p:cNvSpPr/>
          <p:nvPr/>
        </p:nvSpPr>
        <p:spPr>
          <a:xfrm>
            <a:off x="8505289" y="3252531"/>
            <a:ext cx="186648" cy="253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F3C0BB-64C1-E3ED-A971-680E8A4EC987}"/>
              </a:ext>
            </a:extLst>
          </p:cNvPr>
          <p:cNvSpPr/>
          <p:nvPr/>
        </p:nvSpPr>
        <p:spPr>
          <a:xfrm>
            <a:off x="8505289" y="3552890"/>
            <a:ext cx="186648" cy="253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7B2DE4-C4FC-CE63-05CE-203829C4860F}"/>
              </a:ext>
            </a:extLst>
          </p:cNvPr>
          <p:cNvSpPr/>
          <p:nvPr/>
        </p:nvSpPr>
        <p:spPr>
          <a:xfrm>
            <a:off x="7851367" y="4355394"/>
            <a:ext cx="186648" cy="253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BDD0C0-3C0F-090A-05A0-064082B96288}"/>
              </a:ext>
            </a:extLst>
          </p:cNvPr>
          <p:cNvSpPr/>
          <p:nvPr/>
        </p:nvSpPr>
        <p:spPr>
          <a:xfrm>
            <a:off x="7849657" y="4651631"/>
            <a:ext cx="186648" cy="253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24269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2846-249D-8512-BA54-91B2FF98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AE0581D-4D9F-0AAC-5626-4847D6B4053A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B20BACD0-B83D-E9C1-6779-482AFA0BE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4B667C-110E-2B5B-8F69-126C1769E1DE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7362B-BA22-1E9C-B8CE-410762DECB6A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CB842F-E7D9-6E9E-A3C3-D7D5288A79C7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FD2DEB-DB06-5643-12F1-D81B182789D3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8C9C2694-5808-F72F-8DB8-1F222621AC5A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90B26652-64FF-A65C-B3F7-78AD1B8E8932}"/>
              </a:ext>
            </a:extLst>
          </p:cNvPr>
          <p:cNvSpPr txBox="1"/>
          <p:nvPr/>
        </p:nvSpPr>
        <p:spPr>
          <a:xfrm>
            <a:off x="348615" y="1010757"/>
            <a:ext cx="11004330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Escenario bajo sobre freático y sin influencia de solutos: 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Ψ total = Ψ gravitacional + Ψ mátrico</a:t>
            </a:r>
            <a:r>
              <a:rPr lang="en-US" altLang="en-US" strike="sngStrike" noProof="1">
                <a:latin typeface="Arial" panose="020B0604020202020204" pitchFamily="34" charset="0"/>
                <a:cs typeface="Arial" panose="020B0604020202020204" pitchFamily="34" charset="0"/>
              </a:rPr>
              <a:t> + Ψ ósmotico + Ψ hidroestático</a:t>
            </a:r>
          </a:p>
          <a:p>
            <a:pPr marL="8572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H = h + z, con </a:t>
            </a:r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h negativo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39ABC-7C18-9459-227F-5B195E59C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15" y="2455749"/>
            <a:ext cx="6720879" cy="36035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B0F338-016D-B1D9-60BA-77D68C6A637F}"/>
              </a:ext>
            </a:extLst>
          </p:cNvPr>
          <p:cNvSpPr/>
          <p:nvPr/>
        </p:nvSpPr>
        <p:spPr>
          <a:xfrm>
            <a:off x="2058035" y="4834095"/>
            <a:ext cx="205484" cy="291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EB54C-600A-B9D1-5BAB-DA928CAE2E28}"/>
              </a:ext>
            </a:extLst>
          </p:cNvPr>
          <p:cNvSpPr/>
          <p:nvPr/>
        </p:nvSpPr>
        <p:spPr>
          <a:xfrm>
            <a:off x="2847433" y="3429000"/>
            <a:ext cx="205484" cy="291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C9A6CF22-DA3B-8C8C-7E84-091A7ECEB59D}"/>
              </a:ext>
            </a:extLst>
          </p:cNvPr>
          <p:cNvSpPr txBox="1"/>
          <p:nvPr/>
        </p:nvSpPr>
        <p:spPr>
          <a:xfrm>
            <a:off x="6239549" y="2357024"/>
            <a:ext cx="72535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Piezómetro y tensiómetro en este caso miden H</a:t>
            </a:r>
          </a:p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x1 (cm) &lt; x2 (cm)</a:t>
            </a:r>
          </a:p>
          <a:p>
            <a:endParaRPr lang="en-US" altLang="en-US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- x1 (cm) es mayor que - x2 (cm)</a:t>
            </a:r>
          </a:p>
          <a:p>
            <a:endParaRPr lang="en-US" altLang="en-US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Flujo desde saturado a insaturado </a:t>
            </a:r>
          </a:p>
        </p:txBody>
      </p:sp>
    </p:spTree>
    <p:extLst>
      <p:ext uri="{BB962C8B-B14F-4D97-AF65-F5344CB8AC3E}">
        <p14:creationId xmlns:p14="http://schemas.microsoft.com/office/powerpoint/2010/main" val="681779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1A63-FCA3-B75F-9FE8-95D77690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DCC4C79-AC27-4E73-E311-DD83F49B8231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DB999CA9-F1BD-2A6B-B7F5-9F0718434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1D8AE6-E906-AA69-418A-D43BF1D7785F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12C4D8-A783-D9C6-B5A1-7F787576CAC0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40EFE0-ACA5-95EB-7894-89DA2E6E4568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3C91AE-D658-660B-98C8-D32C77AAC5D9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5786F940-CCE7-C7B9-8BDA-F2BE3CAC86ED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B16F5-E6A8-BD02-A2D9-DFC1F3383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15" y="1140823"/>
            <a:ext cx="5790670" cy="2424701"/>
          </a:xfrm>
          <a:prstGeom prst="rect">
            <a:avLst/>
          </a:prstGeom>
        </p:spPr>
      </p:pic>
      <p:sp>
        <p:nvSpPr>
          <p:cNvPr id="4" name="Text Box 10">
            <a:extLst>
              <a:ext uri="{FF2B5EF4-FFF2-40B4-BE49-F238E27FC236}">
                <a16:creationId xmlns:a16="http://schemas.microsoft.com/office/drawing/2014/main" id="{86EB232C-5652-C2B8-DEEC-13B5E37F08DA}"/>
              </a:ext>
            </a:extLst>
          </p:cNvPr>
          <p:cNvSpPr txBox="1"/>
          <p:nvPr/>
        </p:nvSpPr>
        <p:spPr>
          <a:xfrm>
            <a:off x="583399" y="955522"/>
            <a:ext cx="1083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Flujo de agua en suelo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CD45C-F248-A828-FE21-A42A99657588}"/>
              </a:ext>
            </a:extLst>
          </p:cNvPr>
          <p:cNvSpPr txBox="1"/>
          <p:nvPr/>
        </p:nvSpPr>
        <p:spPr>
          <a:xfrm>
            <a:off x="5830379" y="1694271"/>
            <a:ext cx="6102848" cy="336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Vimos que Ψ depende de varios componentes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K(Ψ) indica que la conductividad depende del potencial hídrico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K también depende del contenido de humedad (θ)?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Depende el potencial hídrico del contenido de humedad?</a:t>
            </a: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3731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/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/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50340-AF71-5B5B-104C-84648B5BB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9" y="1541937"/>
            <a:ext cx="6494203" cy="4160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25FDF7-6D2E-8218-F281-1900E5D0087B}"/>
              </a:ext>
            </a:extLst>
          </p:cNvPr>
          <p:cNvSpPr txBox="1"/>
          <p:nvPr/>
        </p:nvSpPr>
        <p:spPr>
          <a:xfrm>
            <a:off x="6308333" y="1694271"/>
            <a:ext cx="5624894" cy="502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K también depende del contenido de humedad?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SI!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Depende el potencial hídrico del contenido de humedad?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Definiremos que</a:t>
            </a:r>
            <a:r>
              <a:rPr lang="en-US" altLang="en-US" i="1" noProof="1">
                <a:latin typeface="Arial" panose="020B0604020202020204" pitchFamily="34" charset="0"/>
                <a:cs typeface="Arial" panose="020B0604020202020204" pitchFamily="34" charset="0"/>
              </a:rPr>
              <a:t> h o potencial mátrico </a:t>
            </a: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depende del contenido de humedad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No es lineal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Relaciones h vs. θ son lo que denominamos funciones hidráulicas del suelo</a:t>
            </a:r>
            <a:endParaRPr lang="en-US" altLang="en-US" i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i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7CE5D-BBA5-34E2-BCD0-CB4EC211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75152F8-B37E-0411-DC66-EC1A3670C801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7C366108-8D8C-0AAB-D7F7-FC2DACFF8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7EEA61-C296-C223-EEA0-A43A74E4096E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A9CA18-D6E2-D4B8-DE2E-A547A769D126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4C926F-C341-9B72-1AC8-7AD39519F222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F0595A-083C-6380-A58C-DCD5536F4040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D249881A-E4C8-29D9-35C3-BB153E2869CD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285D0-DA76-E04B-75BD-D1694A46A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78" y="1131576"/>
            <a:ext cx="5230253" cy="3350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982AB-6DC5-C94B-C435-822DF1A4DE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781" y="1284270"/>
            <a:ext cx="5582917" cy="47158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75483-2262-D778-D3FA-4796D03C9785}"/>
              </a:ext>
            </a:extLst>
          </p:cNvPr>
          <p:cNvSpPr txBox="1"/>
          <p:nvPr/>
        </p:nvSpPr>
        <p:spPr>
          <a:xfrm>
            <a:off x="482178" y="4929996"/>
            <a:ext cx="6102848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Cuando el suelo está saturado </a:t>
            </a:r>
            <a:r>
              <a:rPr lang="en-US" dirty="0" err="1"/>
              <a:t>Ψ</a:t>
            </a:r>
            <a:r>
              <a:rPr lang="en-US" dirty="0"/>
              <a:t>ₘ = 0</a:t>
            </a:r>
          </a:p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Cuando el suelo está saturado </a:t>
            </a:r>
            <a:r>
              <a:rPr lang="en-US" dirty="0"/>
              <a:t>h = 0</a:t>
            </a: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318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0D79-F790-0F1B-0E02-0A2AB6B9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0D120-36F7-6FBF-854B-F2D4CD3A8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280" y="1967447"/>
            <a:ext cx="6858106" cy="38533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618B903-909E-155E-1D56-0B2A4195F2F3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C3F9E409-899A-7615-CBC5-7A3FFEC3F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F47D4E-EE0F-9632-BD3F-9B82CB8CD8DF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11D0CD-19F6-A3BF-C5C1-6D0995C791D6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8505D8-CE53-284B-4A0B-2905CB5DBDF6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BB0912-16F2-33D2-D829-FB217DCF690A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B194CCA6-A700-DEE1-F555-1F1AD992395C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6485D-C691-BB3B-F1EA-3740B4D42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14" y="1155843"/>
            <a:ext cx="5230253" cy="3350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53BE4-6FF1-87DC-7564-F4AD38C78055}"/>
              </a:ext>
            </a:extLst>
          </p:cNvPr>
          <p:cNvSpPr txBox="1"/>
          <p:nvPr/>
        </p:nvSpPr>
        <p:spPr>
          <a:xfrm>
            <a:off x="348614" y="4707095"/>
            <a:ext cx="6102848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Cuando el suelo está saturado = θ</a:t>
            </a:r>
            <a:r>
              <a:rPr lang="en-US" altLang="en-US" baseline="-25000" noProof="1">
                <a:latin typeface="Arial" panose="020B0604020202020204" pitchFamily="34" charset="0"/>
                <a:cs typeface="Arial" panose="020B0604020202020204" pitchFamily="34" charset="0"/>
              </a:rPr>
              <a:t>máx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42415164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5400-D71B-8EE5-0355-1C5B67C0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3E22E5B-D169-B431-553B-D09293A534AD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1D26CE6D-1A64-CEBF-FB79-1B5715425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DE6B8D-C8A4-B1FC-9A95-178B12405BA3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51419B-3937-1C15-D483-687F70444743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0D5DE9-621B-8DAA-8159-D00E86EDA98E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ACCE9F2-8F3D-6021-8471-ACE45A4AC358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C8CED0DE-16BE-C2D3-9E5F-C554DF89776E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6376A-F058-84CE-D7E0-A108F5746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15" y="951741"/>
            <a:ext cx="7772400" cy="4954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3BD06-B2F0-9644-F304-F092006B0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58"/>
          <a:stretch>
            <a:fillRect/>
          </a:stretch>
        </p:blipFill>
        <p:spPr>
          <a:xfrm>
            <a:off x="7200265" y="2661240"/>
            <a:ext cx="4876800" cy="139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5700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AEBC-078C-1817-0D08-6E262C1B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CFBB9FA-48FF-631C-64E8-4574BB007E79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886DD33E-2954-B143-29BD-F36651435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CBE841-8DFE-F20B-9D8C-04E07ACCB71E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BB5C85F-9F0C-D97B-8A72-E1ABE4ED9721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02DC3A-92AD-B2C7-C08D-37EFF65E2141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D1F11C-17F7-8723-DF4F-DAAB3077E9FE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DEA213F-4BE6-A8B2-8AE1-7DBEEC0C5BF2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" altLang="en-US" sz="28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6D086BEE-865D-A7D7-9293-34E3E66F959C}"/>
              </a:ext>
            </a:extLst>
          </p:cNvPr>
          <p:cNvSpPr txBox="1"/>
          <p:nvPr/>
        </p:nvSpPr>
        <p:spPr>
          <a:xfrm>
            <a:off x="444500" y="1098550"/>
            <a:ext cx="6438900" cy="3364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Potencial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hídrico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Definiciones</a:t>
            </a: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Caso Saturado y No Saturado</a:t>
            </a:r>
            <a:endParaRPr lang="en-US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Funciones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hidráulicas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del </a:t>
            </a:r>
            <a:r>
              <a:rPr lang="en-US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suelo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Conductividad hidráulica</a:t>
            </a:r>
            <a:endParaRPr lang="en-US" alt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Potencial mátrico y contenido de humedad</a:t>
            </a:r>
            <a:endParaRPr lang="en-US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00050" indent="-400050" fontAlgn="auto">
              <a:lnSpc>
                <a:spcPct val="150000"/>
              </a:lnSpc>
              <a:buFont typeface="+mj-lt"/>
              <a:buAutoNum type="romanUcPeriod"/>
            </a:pP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Ejercicios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857250" lvl="1" indent="-4000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trike="noStrike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Análisis de datos de curva de retención de humedad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E67EF-76B8-0A72-7ADC-AD2584292912}"/>
              </a:ext>
            </a:extLst>
          </p:cNvPr>
          <p:cNvPicPr>
            <a:picLocks noChangeAspect="1"/>
          </p:cNvPicPr>
          <p:nvPr/>
        </p:nvPicPr>
        <p:blipFill>
          <a:blip/>
          <a:srcRect l="21908" t="267" r="18717" b="-267"/>
          <a:stretch>
            <a:fillRect/>
          </a:stretch>
        </p:blipFill>
        <p:spPr>
          <a:xfrm>
            <a:off x="7762875" y="1964055"/>
            <a:ext cx="3091815" cy="292925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4860712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0A87-3CD7-B469-2DBB-982CA6A0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0944944-661F-8628-38A4-B0427DDD97ED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77D53BDC-C43C-2978-C532-4370268B2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ABB598-E6C8-9B75-183D-FA03CCF01681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29D989-C65F-BFDE-6A02-245BC6171849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79D297-F3B6-A961-0F9E-40661966DD21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E628D7-070A-8371-CD9F-5EFC594AB1DF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B5DF7118-7AA2-F1BF-2A20-53618051A572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DCC9AB-CC54-9CF8-0178-03D24287E342}"/>
              </a:ext>
            </a:extLst>
          </p:cNvPr>
          <p:cNvSpPr txBox="1"/>
          <p:nvPr/>
        </p:nvSpPr>
        <p:spPr>
          <a:xfrm>
            <a:off x="173990" y="1031244"/>
            <a:ext cx="4973363" cy="461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en-US" b="1" noProof="1">
                <a:latin typeface="Arial" panose="020B0604020202020204" pitchFamily="34" charset="0"/>
                <a:cs typeface="Arial" panose="020B0604020202020204" pitchFamily="34" charset="0"/>
              </a:rPr>
              <a:t>Medir potencial hídrico y potencial mátrico</a:t>
            </a: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1. Medir potencial hídrico es imposible directamente, se utiliza el concepto de equilibrio y propiedades del agua con sensores para hacer mediciones</a:t>
            </a:r>
          </a:p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2. Con tensiómetros medimos potencial mátrico (h) </a:t>
            </a:r>
          </a:p>
          <a:p>
            <a:pPr lvl="1">
              <a:lnSpc>
                <a:spcPct val="150000"/>
              </a:lnSpc>
            </a:pPr>
            <a:r>
              <a:rPr lang="en-US" altLang="en-US" noProof="1">
                <a:latin typeface="Arial" panose="020B0604020202020204" pitchFamily="34" charset="0"/>
                <a:cs typeface="Arial" panose="020B0604020202020204" pitchFamily="34" charset="0"/>
              </a:rPr>
              <a:t>3. Por diferencia de masa o secando obtenemos (θ)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33D93-3FAD-DE9A-03A8-B107D1CE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788" y="1602008"/>
            <a:ext cx="6587287" cy="3503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CC5D6F-CFCF-F77D-3DA6-3C85CB686374}"/>
              </a:ext>
            </a:extLst>
          </p:cNvPr>
          <p:cNvSpPr txBox="1"/>
          <p:nvPr/>
        </p:nvSpPr>
        <p:spPr>
          <a:xfrm>
            <a:off x="5570357" y="5254737"/>
            <a:ext cx="6102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Acevedo, S. E., Martínez, S. I., Contreras, C. P., &amp; Bonilla, C. A. (2023). Effect of data availability and </a:t>
            </a:r>
            <a:r>
              <a:rPr lang="en-US" sz="1000" dirty="0" err="1"/>
              <a:t>pedotransfer</a:t>
            </a:r>
            <a:r>
              <a:rPr lang="en-US" sz="1000" dirty="0"/>
              <a:t> estimates on water flow modelling in wildfire-affected soils. Journal of Hydrology, 617, 128919. https://</a:t>
            </a:r>
            <a:r>
              <a:rPr lang="en-US" sz="1000" dirty="0" err="1"/>
              <a:t>doi.org</a:t>
            </a:r>
            <a:r>
              <a:rPr lang="en-US" sz="1000" dirty="0"/>
              <a:t>/10.1016/j.jhydrol.2022.128919</a:t>
            </a:r>
          </a:p>
        </p:txBody>
      </p:sp>
    </p:spTree>
    <p:extLst>
      <p:ext uri="{BB962C8B-B14F-4D97-AF65-F5344CB8AC3E}">
        <p14:creationId xmlns:p14="http://schemas.microsoft.com/office/powerpoint/2010/main" val="315539411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A815-6343-48A9-EE1D-2F2D616C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318600C-3F9A-3163-8ECC-7DE848A07529}"/>
              </a:ext>
            </a:extLst>
          </p:cNvPr>
          <p:cNvGrpSpPr/>
          <p:nvPr/>
        </p:nvGrpSpPr>
        <p:grpSpPr>
          <a:xfrm>
            <a:off x="-635" y="-13970"/>
            <a:ext cx="12180570" cy="6771005"/>
            <a:chOff x="-1" y="-22"/>
            <a:chExt cx="19182" cy="10663"/>
          </a:xfrm>
        </p:grpSpPr>
        <p:pic>
          <p:nvPicPr>
            <p:cNvPr id="9" name="Picture 8" descr="logouc">
              <a:extLst>
                <a:ext uri="{FF2B5EF4-FFF2-40B4-BE49-F238E27FC236}">
                  <a16:creationId xmlns:a16="http://schemas.microsoft.com/office/drawing/2014/main" id="{BE83BFF1-4EE3-9EAA-1899-6A566A17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67" t="26378" r="7967" b="28600"/>
            <a:stretch>
              <a:fillRect/>
            </a:stretch>
          </p:blipFill>
          <p:spPr>
            <a:xfrm>
              <a:off x="996" y="-3"/>
              <a:ext cx="2245" cy="9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513E95-4FA7-19DC-751A-66E27527C7D3}"/>
                </a:ext>
              </a:extLst>
            </p:cNvPr>
            <p:cNvSpPr/>
            <p:nvPr/>
          </p:nvSpPr>
          <p:spPr>
            <a:xfrm>
              <a:off x="3609" y="-22"/>
              <a:ext cx="15573" cy="9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E1826E-B16E-A719-B4D3-13D58C2BDB57}"/>
                </a:ext>
              </a:extLst>
            </p:cNvPr>
            <p:cNvSpPr/>
            <p:nvPr/>
          </p:nvSpPr>
          <p:spPr>
            <a:xfrm>
              <a:off x="-1" y="-3"/>
              <a:ext cx="550" cy="9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67A94B-A8E0-1FE5-7859-F29D69D84CE9}"/>
                </a:ext>
              </a:extLst>
            </p:cNvPr>
            <p:cNvSpPr/>
            <p:nvPr/>
          </p:nvSpPr>
          <p:spPr>
            <a:xfrm>
              <a:off x="-1" y="10309"/>
              <a:ext cx="19182" cy="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4DE9B0-11D2-4952-3A9A-49A375CBF330}"/>
                </a:ext>
              </a:extLst>
            </p:cNvPr>
            <p:cNvSpPr/>
            <p:nvPr/>
          </p:nvSpPr>
          <p:spPr>
            <a:xfrm>
              <a:off x="17567" y="10308"/>
              <a:ext cx="816" cy="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EE7682B7-BB18-414E-966C-6F9A43845C26}"/>
              </a:ext>
            </a:extLst>
          </p:cNvPr>
          <p:cNvSpPr>
            <a:spLocks noGrp="1"/>
          </p:cNvSpPr>
          <p:nvPr/>
        </p:nvSpPr>
        <p:spPr>
          <a:xfrm>
            <a:off x="4209415" y="-1905"/>
            <a:ext cx="7867650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algn="r"/>
            <a:r>
              <a:rPr lang="en-US" altLang="en-US" sz="2800" dirty="0" err="1">
                <a:solidFill>
                  <a:schemeClr val="bg1"/>
                </a:solidFill>
                <a:sym typeface="+mn-ea"/>
              </a:rPr>
              <a:t>Flujo</a:t>
            </a:r>
            <a:r>
              <a:rPr lang="en-US" altLang="en-US" sz="2800" dirty="0">
                <a:solidFill>
                  <a:schemeClr val="bg1"/>
                </a:solidFill>
                <a:sym typeface="+mn-ea"/>
              </a:rPr>
              <a:t> Agua-Suelo - AGR3016 - Biomet</a:t>
            </a:r>
            <a:r>
              <a:rPr lang="en-US" altLang="en-US" sz="28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D414E-11F7-AB99-26D7-BEA9AFEBF94B}"/>
              </a:ext>
            </a:extLst>
          </p:cNvPr>
          <p:cNvSpPr txBox="1"/>
          <p:nvPr/>
        </p:nvSpPr>
        <p:spPr>
          <a:xfrm>
            <a:off x="270553" y="3925438"/>
            <a:ext cx="7572053" cy="65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auto">
              <a:lnSpc>
                <a:spcPct val="150000"/>
              </a:lnSpc>
            </a:pPr>
            <a:r>
              <a:rPr lang="en-US" altLang="en-US" sz="2800" noProof="1">
                <a:latin typeface="Arial" panose="020B0604020202020204" pitchFamily="34" charset="0"/>
                <a:cs typeface="Arial" panose="020B0604020202020204" pitchFamily="34" charset="0"/>
              </a:rPr>
              <a:t>https://github.com/Saryace/swrc-functions</a:t>
            </a:r>
            <a:endParaRPr lang="en-US" altLang="en-US" sz="2800" strike="noStrike" noProof="1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410" name="Picture 2" descr="GitHub Octodex">
            <a:extLst>
              <a:ext uri="{FF2B5EF4-FFF2-40B4-BE49-F238E27FC236}">
                <a16:creationId xmlns:a16="http://schemas.microsoft.com/office/drawing/2014/main" id="{CCB3365A-2F09-423C-AB71-588E20FF1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762" y="1338919"/>
            <a:ext cx="4453846" cy="445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26316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7203</TotalTime>
  <Words>977</Words>
  <Application>Microsoft Macintosh PowerPoint</Application>
  <PresentationFormat>Widescreen</PresentationFormat>
  <Paragraphs>121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宋体</vt:lpstr>
      <vt:lpstr>Arial</vt:lpstr>
      <vt:lpstr>Arial Black</vt:lpstr>
      <vt:lpstr>Calibri</vt:lpstr>
      <vt:lpstr>FreeSans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</dc:creator>
  <cp:lastModifiedBy>Sara Ester Acevedo Godoy</cp:lastModifiedBy>
  <cp:revision>257</cp:revision>
  <dcterms:created xsi:type="dcterms:W3CDTF">2026-03-17T10:13:06Z</dcterms:created>
  <dcterms:modified xsi:type="dcterms:W3CDTF">2026-04-21T19:58:15Z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